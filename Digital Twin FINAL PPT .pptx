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4" r:id="rId1"/>
  </p:sldMasterIdLst>
  <p:notesMasterIdLst>
    <p:notesMasterId r:id="rId22"/>
  </p:notesMasterIdLst>
  <p:handoutMasterIdLst>
    <p:handoutMasterId r:id="rId23"/>
  </p:handoutMasterIdLst>
  <p:sldIdLst>
    <p:sldId id="256" r:id="rId2"/>
    <p:sldId id="282" r:id="rId3"/>
    <p:sldId id="283" r:id="rId4"/>
    <p:sldId id="284" r:id="rId5"/>
    <p:sldId id="285" r:id="rId6"/>
    <p:sldId id="286" r:id="rId7"/>
    <p:sldId id="287" r:id="rId8"/>
    <p:sldId id="288" r:id="rId9"/>
    <p:sldId id="289" r:id="rId10"/>
    <p:sldId id="290" r:id="rId11"/>
    <p:sldId id="291" r:id="rId12"/>
    <p:sldId id="292" r:id="rId13"/>
    <p:sldId id="293" r:id="rId14"/>
    <p:sldId id="294" r:id="rId15"/>
    <p:sldId id="296" r:id="rId16"/>
    <p:sldId id="297" r:id="rId17"/>
    <p:sldId id="298" r:id="rId18"/>
    <p:sldId id="299" r:id="rId19"/>
    <p:sldId id="300" r:id="rId20"/>
    <p:sldId id="301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B1EEBD49-0B5B-48A2-BDEF-16C66E3AD396}">
          <p14:sldIdLst>
            <p14:sldId id="256"/>
            <p14:sldId id="282"/>
            <p14:sldId id="283"/>
            <p14:sldId id="284"/>
            <p14:sldId id="285"/>
            <p14:sldId id="286"/>
            <p14:sldId id="287"/>
            <p14:sldId id="288"/>
            <p14:sldId id="289"/>
            <p14:sldId id="290"/>
            <p14:sldId id="291"/>
            <p14:sldId id="292"/>
            <p14:sldId id="293"/>
            <p14:sldId id="294"/>
            <p14:sldId id="296"/>
            <p14:sldId id="297"/>
            <p14:sldId id="298"/>
            <p14:sldId id="299"/>
            <p14:sldId id="300"/>
            <p14:sldId id="30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475" autoAdjust="0"/>
    <p:restoredTop sz="94660"/>
  </p:normalViewPr>
  <p:slideViewPr>
    <p:cSldViewPr snapToGrid="0">
      <p:cViewPr varScale="1">
        <p:scale>
          <a:sx n="70" d="100"/>
          <a:sy n="70" d="100"/>
        </p:scale>
        <p:origin x="46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coloredtext_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2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/>
    </dgm:fillClrLst>
    <dgm:linClrLst meth="repeat">
      <a:schemeClr val="lt2">
        <a:alpha val="0"/>
      </a:schemeClr>
    </dgm:linClrLst>
    <dgm:effectClrLst/>
    <dgm:txLinClrLst/>
    <dgm:txFillClrLst/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dk2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dk2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ED50F92-D128-485F-94A8-16CE43C1596B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coloredtext_accent0_3" csCatId="mainScheme" phldr="1"/>
      <dgm:spPr/>
      <dgm:t>
        <a:bodyPr/>
        <a:lstStyle/>
        <a:p>
          <a:endParaRPr lang="en-US"/>
        </a:p>
      </dgm:t>
    </dgm:pt>
    <dgm:pt modelId="{A4F06CE4-AFE6-4B72-914B-FEF7EC9C83CC}">
      <dgm:prSet/>
      <dgm:spPr/>
      <dgm:t>
        <a:bodyPr/>
        <a:lstStyle/>
        <a:p>
          <a:r>
            <a:rPr lang="en-IN"/>
            <a:t>• Progressive fault injection produces a systematic rise in vibration features, which is reflected as a clear degradation trend in the health index. </a:t>
          </a:r>
          <a:endParaRPr lang="en-US"/>
        </a:p>
      </dgm:t>
    </dgm:pt>
    <dgm:pt modelId="{5F171824-4A85-40A6-BF1F-C6BF6C662A2A}" type="parTrans" cxnId="{00A11181-3701-4630-BD95-DDF3DC358FCC}">
      <dgm:prSet/>
      <dgm:spPr/>
      <dgm:t>
        <a:bodyPr/>
        <a:lstStyle/>
        <a:p>
          <a:endParaRPr lang="en-US"/>
        </a:p>
      </dgm:t>
    </dgm:pt>
    <dgm:pt modelId="{AC1AED6B-E677-42D5-A718-57874254F778}" type="sibTrans" cxnId="{00A11181-3701-4630-BD95-DDF3DC358FCC}">
      <dgm:prSet/>
      <dgm:spPr/>
      <dgm:t>
        <a:bodyPr/>
        <a:lstStyle/>
        <a:p>
          <a:endParaRPr lang="en-US"/>
        </a:p>
      </dgm:t>
    </dgm:pt>
    <dgm:pt modelId="{36478557-819A-43A8-B79C-DDE38139F9CD}">
      <dgm:prSet/>
      <dgm:spPr/>
      <dgm:t>
        <a:bodyPr/>
        <a:lstStyle/>
        <a:p>
          <a:r>
            <a:rPr lang="en-IN"/>
            <a:t>• Normalization against the healthy baseline converts raw signal changes into an interpretable health scale, enabling consistent comparison across runs. </a:t>
          </a:r>
          <a:endParaRPr lang="en-US"/>
        </a:p>
      </dgm:t>
    </dgm:pt>
    <dgm:pt modelId="{6D9F4E33-BCFA-4358-9A13-FE9E610A445D}" type="parTrans" cxnId="{FDEF3F7C-B3C8-4F6F-8269-475E2EB2AA31}">
      <dgm:prSet/>
      <dgm:spPr/>
      <dgm:t>
        <a:bodyPr/>
        <a:lstStyle/>
        <a:p>
          <a:endParaRPr lang="en-US"/>
        </a:p>
      </dgm:t>
    </dgm:pt>
    <dgm:pt modelId="{001ABC6C-DC36-4786-ADC3-EB98FBA74A21}" type="sibTrans" cxnId="{FDEF3F7C-B3C8-4F6F-8269-475E2EB2AA31}">
      <dgm:prSet/>
      <dgm:spPr/>
      <dgm:t>
        <a:bodyPr/>
        <a:lstStyle/>
        <a:p>
          <a:endParaRPr lang="en-US"/>
        </a:p>
      </dgm:t>
    </dgm:pt>
    <dgm:pt modelId="{4D0D9571-61D6-4F69-842D-53A23F7F0694}">
      <dgm:prSet/>
      <dgm:spPr/>
      <dgm:t>
        <a:bodyPr/>
        <a:lstStyle/>
        <a:p>
          <a:r>
            <a:rPr lang="en-IN"/>
            <a:t>• Variations in the RUL curve indicate the sensitivity of prediction to recent degradation rate, and a stabilizing RUL trend suggests steady degradation behavior. </a:t>
          </a:r>
          <a:endParaRPr lang="en-US"/>
        </a:p>
      </dgm:t>
    </dgm:pt>
    <dgm:pt modelId="{3750FEC1-4218-402A-BE73-36E3A9212D6A}" type="parTrans" cxnId="{10441CAA-DB75-4FDD-A652-92EC0A17B43D}">
      <dgm:prSet/>
      <dgm:spPr/>
      <dgm:t>
        <a:bodyPr/>
        <a:lstStyle/>
        <a:p>
          <a:endParaRPr lang="en-US"/>
        </a:p>
      </dgm:t>
    </dgm:pt>
    <dgm:pt modelId="{E9559F4A-EDFA-4211-98F1-CAAE88CE8B3D}" type="sibTrans" cxnId="{10441CAA-DB75-4FDD-A652-92EC0A17B43D}">
      <dgm:prSet/>
      <dgm:spPr/>
      <dgm:t>
        <a:bodyPr/>
        <a:lstStyle/>
        <a:p>
          <a:endParaRPr lang="en-US"/>
        </a:p>
      </dgm:t>
    </dgm:pt>
    <dgm:pt modelId="{816170C9-9049-472D-AD13-664E0887362F}">
      <dgm:prSet/>
      <dgm:spPr/>
      <dgm:t>
        <a:bodyPr/>
        <a:lstStyle/>
        <a:p>
          <a:r>
            <a:rPr lang="en-IN"/>
            <a:t>• The combined view of severity, health index, and RUL links root cause, current condition, and expected remaining life for maintenance planning. </a:t>
          </a:r>
          <a:endParaRPr lang="en-US"/>
        </a:p>
      </dgm:t>
    </dgm:pt>
    <dgm:pt modelId="{40EFFD76-CA5B-49A8-B239-36619A2C4982}" type="parTrans" cxnId="{84C13461-B54E-4751-B832-1A3A76859C74}">
      <dgm:prSet/>
      <dgm:spPr/>
      <dgm:t>
        <a:bodyPr/>
        <a:lstStyle/>
        <a:p>
          <a:endParaRPr lang="en-US"/>
        </a:p>
      </dgm:t>
    </dgm:pt>
    <dgm:pt modelId="{BD543254-0AE2-425B-B733-3EA18C67D6A4}" type="sibTrans" cxnId="{84C13461-B54E-4751-B832-1A3A76859C74}">
      <dgm:prSet/>
      <dgm:spPr/>
      <dgm:t>
        <a:bodyPr/>
        <a:lstStyle/>
        <a:p>
          <a:endParaRPr lang="en-US"/>
        </a:p>
      </dgm:t>
    </dgm:pt>
    <dgm:pt modelId="{9F2E9A74-6B43-4EB9-B400-6945F7BF1720}" type="pres">
      <dgm:prSet presAssocID="{0ED50F92-D128-485F-94A8-16CE43C1596B}" presName="root" presStyleCnt="0">
        <dgm:presLayoutVars>
          <dgm:dir/>
          <dgm:resizeHandles val="exact"/>
        </dgm:presLayoutVars>
      </dgm:prSet>
      <dgm:spPr/>
    </dgm:pt>
    <dgm:pt modelId="{57336773-723C-4AF9-A111-366C8CEAE5C6}" type="pres">
      <dgm:prSet presAssocID="{0ED50F92-D128-485F-94A8-16CE43C1596B}" presName="container" presStyleCnt="0">
        <dgm:presLayoutVars>
          <dgm:dir/>
          <dgm:resizeHandles val="exact"/>
        </dgm:presLayoutVars>
      </dgm:prSet>
      <dgm:spPr/>
    </dgm:pt>
    <dgm:pt modelId="{E502823E-B483-4D37-96E4-9BDE78E1FC7E}" type="pres">
      <dgm:prSet presAssocID="{A4F06CE4-AFE6-4B72-914B-FEF7EC9C83CC}" presName="compNode" presStyleCnt="0"/>
      <dgm:spPr/>
    </dgm:pt>
    <dgm:pt modelId="{040B22D3-06E3-48F7-9DAA-0718F4182994}" type="pres">
      <dgm:prSet presAssocID="{A4F06CE4-AFE6-4B72-914B-FEF7EC9C83CC}" presName="iconBgRect" presStyleLbl="bgShp" presStyleIdx="0" presStyleCnt="4"/>
      <dgm:spPr/>
    </dgm:pt>
    <dgm:pt modelId="{7458B6A3-DC49-42CC-89A2-38ABF975D458}" type="pres">
      <dgm:prSet presAssocID="{A4F06CE4-AFE6-4B72-914B-FEF7EC9C83CC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eedle"/>
        </a:ext>
      </dgm:extLst>
    </dgm:pt>
    <dgm:pt modelId="{9CDCE1AB-177B-4DD0-8130-952BD39BB1CC}" type="pres">
      <dgm:prSet presAssocID="{A4F06CE4-AFE6-4B72-914B-FEF7EC9C83CC}" presName="spaceRect" presStyleCnt="0"/>
      <dgm:spPr/>
    </dgm:pt>
    <dgm:pt modelId="{7C8734A6-3541-4BC4-80E4-0CE2823C045E}" type="pres">
      <dgm:prSet presAssocID="{A4F06CE4-AFE6-4B72-914B-FEF7EC9C83CC}" presName="textRect" presStyleLbl="revTx" presStyleIdx="0" presStyleCnt="4">
        <dgm:presLayoutVars>
          <dgm:chMax val="1"/>
          <dgm:chPref val="1"/>
        </dgm:presLayoutVars>
      </dgm:prSet>
      <dgm:spPr/>
    </dgm:pt>
    <dgm:pt modelId="{FEAEFC88-00BF-4F08-8584-9450D5C521CF}" type="pres">
      <dgm:prSet presAssocID="{AC1AED6B-E677-42D5-A718-57874254F778}" presName="sibTrans" presStyleLbl="sibTrans2D1" presStyleIdx="0" presStyleCnt="0"/>
      <dgm:spPr/>
    </dgm:pt>
    <dgm:pt modelId="{0E0136F6-88E4-4FEE-B390-06F9544D558A}" type="pres">
      <dgm:prSet presAssocID="{36478557-819A-43A8-B79C-DDE38139F9CD}" presName="compNode" presStyleCnt="0"/>
      <dgm:spPr/>
    </dgm:pt>
    <dgm:pt modelId="{2B13CA9C-79EF-481A-A0A6-4FAD7A097899}" type="pres">
      <dgm:prSet presAssocID="{36478557-819A-43A8-B79C-DDE38139F9CD}" presName="iconBgRect" presStyleLbl="bgShp" presStyleIdx="1" presStyleCnt="4"/>
      <dgm:spPr/>
    </dgm:pt>
    <dgm:pt modelId="{C8A58926-A8FF-4C18-B715-0005EBA5F0D4}" type="pres">
      <dgm:prSet presAssocID="{36478557-819A-43A8-B79C-DDE38139F9CD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F68722F5-E99B-4ED9-8960-1808092444FC}" type="pres">
      <dgm:prSet presAssocID="{36478557-819A-43A8-B79C-DDE38139F9CD}" presName="spaceRect" presStyleCnt="0"/>
      <dgm:spPr/>
    </dgm:pt>
    <dgm:pt modelId="{AB4A8437-605F-4716-AB15-B3B21F561780}" type="pres">
      <dgm:prSet presAssocID="{36478557-819A-43A8-B79C-DDE38139F9CD}" presName="textRect" presStyleLbl="revTx" presStyleIdx="1" presStyleCnt="4">
        <dgm:presLayoutVars>
          <dgm:chMax val="1"/>
          <dgm:chPref val="1"/>
        </dgm:presLayoutVars>
      </dgm:prSet>
      <dgm:spPr/>
    </dgm:pt>
    <dgm:pt modelId="{2BAE9B29-10BB-4122-90B5-4B560A909510}" type="pres">
      <dgm:prSet presAssocID="{001ABC6C-DC36-4786-ADC3-EB98FBA74A21}" presName="sibTrans" presStyleLbl="sibTrans2D1" presStyleIdx="0" presStyleCnt="0"/>
      <dgm:spPr/>
    </dgm:pt>
    <dgm:pt modelId="{4BE86108-FF52-440A-9255-08E9781C5579}" type="pres">
      <dgm:prSet presAssocID="{4D0D9571-61D6-4F69-842D-53A23F7F0694}" presName="compNode" presStyleCnt="0"/>
      <dgm:spPr/>
    </dgm:pt>
    <dgm:pt modelId="{695C6D5F-592C-4F48-BF53-718676A8E11E}" type="pres">
      <dgm:prSet presAssocID="{4D0D9571-61D6-4F69-842D-53A23F7F0694}" presName="iconBgRect" presStyleLbl="bgShp" presStyleIdx="2" presStyleCnt="4"/>
      <dgm:spPr/>
    </dgm:pt>
    <dgm:pt modelId="{6BBCA64F-8EDE-4F20-B9B3-04E8C286A0ED}" type="pres">
      <dgm:prSet presAssocID="{4D0D9571-61D6-4F69-842D-53A23F7F0694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peed Bump"/>
        </a:ext>
      </dgm:extLst>
    </dgm:pt>
    <dgm:pt modelId="{38EED7F1-C582-4323-8FE9-1D83D292A572}" type="pres">
      <dgm:prSet presAssocID="{4D0D9571-61D6-4F69-842D-53A23F7F0694}" presName="spaceRect" presStyleCnt="0"/>
      <dgm:spPr/>
    </dgm:pt>
    <dgm:pt modelId="{FBF213FE-8657-4C8F-A0BE-6B3AF9F7CE61}" type="pres">
      <dgm:prSet presAssocID="{4D0D9571-61D6-4F69-842D-53A23F7F0694}" presName="textRect" presStyleLbl="revTx" presStyleIdx="2" presStyleCnt="4">
        <dgm:presLayoutVars>
          <dgm:chMax val="1"/>
          <dgm:chPref val="1"/>
        </dgm:presLayoutVars>
      </dgm:prSet>
      <dgm:spPr/>
    </dgm:pt>
    <dgm:pt modelId="{7AE45A29-9E3D-4385-A210-267C99D74DD6}" type="pres">
      <dgm:prSet presAssocID="{E9559F4A-EDFA-4211-98F1-CAAE88CE8B3D}" presName="sibTrans" presStyleLbl="sibTrans2D1" presStyleIdx="0" presStyleCnt="0"/>
      <dgm:spPr/>
    </dgm:pt>
    <dgm:pt modelId="{9D7E0C4C-AF9E-4683-BA37-F358D7CB7CAB}" type="pres">
      <dgm:prSet presAssocID="{816170C9-9049-472D-AD13-664E0887362F}" presName="compNode" presStyleCnt="0"/>
      <dgm:spPr/>
    </dgm:pt>
    <dgm:pt modelId="{778EDEDD-4DEA-447F-A004-D2853D486C61}" type="pres">
      <dgm:prSet presAssocID="{816170C9-9049-472D-AD13-664E0887362F}" presName="iconBgRect" presStyleLbl="bgShp" presStyleIdx="3" presStyleCnt="4"/>
      <dgm:spPr/>
    </dgm:pt>
    <dgm:pt modelId="{20C07CAB-DE6D-40C9-8D90-02DB263C53EC}" type="pres">
      <dgm:prSet presAssocID="{816170C9-9049-472D-AD13-664E0887362F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nk"/>
        </a:ext>
      </dgm:extLst>
    </dgm:pt>
    <dgm:pt modelId="{5ECB3DBC-35E9-494E-B74E-0B77E1A7DA7C}" type="pres">
      <dgm:prSet presAssocID="{816170C9-9049-472D-AD13-664E0887362F}" presName="spaceRect" presStyleCnt="0"/>
      <dgm:spPr/>
    </dgm:pt>
    <dgm:pt modelId="{DB32D199-BB3D-4DEF-A308-9FAD928CBF06}" type="pres">
      <dgm:prSet presAssocID="{816170C9-9049-472D-AD13-664E0887362F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1F5B7608-4F7B-4710-B16C-CF968B287DC0}" type="presOf" srcId="{816170C9-9049-472D-AD13-664E0887362F}" destId="{DB32D199-BB3D-4DEF-A308-9FAD928CBF06}" srcOrd="0" destOrd="0" presId="urn:microsoft.com/office/officeart/2018/2/layout/IconCircleList"/>
    <dgm:cxn modelId="{AF4B2827-2DA3-47BD-8815-FC6F4158DE73}" type="presOf" srcId="{E9559F4A-EDFA-4211-98F1-CAAE88CE8B3D}" destId="{7AE45A29-9E3D-4385-A210-267C99D74DD6}" srcOrd="0" destOrd="0" presId="urn:microsoft.com/office/officeart/2018/2/layout/IconCircleList"/>
    <dgm:cxn modelId="{109D4C2C-55E0-4E39-9ED6-B4CE29A20900}" type="presOf" srcId="{0ED50F92-D128-485F-94A8-16CE43C1596B}" destId="{9F2E9A74-6B43-4EB9-B400-6945F7BF1720}" srcOrd="0" destOrd="0" presId="urn:microsoft.com/office/officeart/2018/2/layout/IconCircleList"/>
    <dgm:cxn modelId="{D459203D-A7E1-4597-81CC-D615FC73D59B}" type="presOf" srcId="{AC1AED6B-E677-42D5-A718-57874254F778}" destId="{FEAEFC88-00BF-4F08-8584-9450D5C521CF}" srcOrd="0" destOrd="0" presId="urn:microsoft.com/office/officeart/2018/2/layout/IconCircleList"/>
    <dgm:cxn modelId="{84C13461-B54E-4751-B832-1A3A76859C74}" srcId="{0ED50F92-D128-485F-94A8-16CE43C1596B}" destId="{816170C9-9049-472D-AD13-664E0887362F}" srcOrd="3" destOrd="0" parTransId="{40EFFD76-CA5B-49A8-B239-36619A2C4982}" sibTransId="{BD543254-0AE2-425B-B733-3EA18C67D6A4}"/>
    <dgm:cxn modelId="{F035297B-3D3E-45E9-AF94-15C50445C66B}" type="presOf" srcId="{A4F06CE4-AFE6-4B72-914B-FEF7EC9C83CC}" destId="{7C8734A6-3541-4BC4-80E4-0CE2823C045E}" srcOrd="0" destOrd="0" presId="urn:microsoft.com/office/officeart/2018/2/layout/IconCircleList"/>
    <dgm:cxn modelId="{FDEF3F7C-B3C8-4F6F-8269-475E2EB2AA31}" srcId="{0ED50F92-D128-485F-94A8-16CE43C1596B}" destId="{36478557-819A-43A8-B79C-DDE38139F9CD}" srcOrd="1" destOrd="0" parTransId="{6D9F4E33-BCFA-4358-9A13-FE9E610A445D}" sibTransId="{001ABC6C-DC36-4786-ADC3-EB98FBA74A21}"/>
    <dgm:cxn modelId="{00A11181-3701-4630-BD95-DDF3DC358FCC}" srcId="{0ED50F92-D128-485F-94A8-16CE43C1596B}" destId="{A4F06CE4-AFE6-4B72-914B-FEF7EC9C83CC}" srcOrd="0" destOrd="0" parTransId="{5F171824-4A85-40A6-BF1F-C6BF6C662A2A}" sibTransId="{AC1AED6B-E677-42D5-A718-57874254F778}"/>
    <dgm:cxn modelId="{6ABFE68A-BBE3-4D36-9286-A7BE543BDAE6}" type="presOf" srcId="{001ABC6C-DC36-4786-ADC3-EB98FBA74A21}" destId="{2BAE9B29-10BB-4122-90B5-4B560A909510}" srcOrd="0" destOrd="0" presId="urn:microsoft.com/office/officeart/2018/2/layout/IconCircleList"/>
    <dgm:cxn modelId="{10441CAA-DB75-4FDD-A652-92EC0A17B43D}" srcId="{0ED50F92-D128-485F-94A8-16CE43C1596B}" destId="{4D0D9571-61D6-4F69-842D-53A23F7F0694}" srcOrd="2" destOrd="0" parTransId="{3750FEC1-4218-402A-BE73-36E3A9212D6A}" sibTransId="{E9559F4A-EDFA-4211-98F1-CAAE88CE8B3D}"/>
    <dgm:cxn modelId="{24065EBF-9555-4BE9-813A-A7EDB59582D9}" type="presOf" srcId="{4D0D9571-61D6-4F69-842D-53A23F7F0694}" destId="{FBF213FE-8657-4C8F-A0BE-6B3AF9F7CE61}" srcOrd="0" destOrd="0" presId="urn:microsoft.com/office/officeart/2018/2/layout/IconCircleList"/>
    <dgm:cxn modelId="{BDC4BCED-A7D8-49A0-A1C5-A25127DF1814}" type="presOf" srcId="{36478557-819A-43A8-B79C-DDE38139F9CD}" destId="{AB4A8437-605F-4716-AB15-B3B21F561780}" srcOrd="0" destOrd="0" presId="urn:microsoft.com/office/officeart/2018/2/layout/IconCircleList"/>
    <dgm:cxn modelId="{A809DEA4-E2CC-4FA0-9EEF-44617FA8DBD7}" type="presParOf" srcId="{9F2E9A74-6B43-4EB9-B400-6945F7BF1720}" destId="{57336773-723C-4AF9-A111-366C8CEAE5C6}" srcOrd="0" destOrd="0" presId="urn:microsoft.com/office/officeart/2018/2/layout/IconCircleList"/>
    <dgm:cxn modelId="{1FC7D4C3-AF27-4D44-8A92-798A9B3198F5}" type="presParOf" srcId="{57336773-723C-4AF9-A111-366C8CEAE5C6}" destId="{E502823E-B483-4D37-96E4-9BDE78E1FC7E}" srcOrd="0" destOrd="0" presId="urn:microsoft.com/office/officeart/2018/2/layout/IconCircleList"/>
    <dgm:cxn modelId="{34F24947-B018-4176-B0FE-C54E58E00DFB}" type="presParOf" srcId="{E502823E-B483-4D37-96E4-9BDE78E1FC7E}" destId="{040B22D3-06E3-48F7-9DAA-0718F4182994}" srcOrd="0" destOrd="0" presId="urn:microsoft.com/office/officeart/2018/2/layout/IconCircleList"/>
    <dgm:cxn modelId="{E5491957-51FD-47DF-9947-6C140D21519F}" type="presParOf" srcId="{E502823E-B483-4D37-96E4-9BDE78E1FC7E}" destId="{7458B6A3-DC49-42CC-89A2-38ABF975D458}" srcOrd="1" destOrd="0" presId="urn:microsoft.com/office/officeart/2018/2/layout/IconCircleList"/>
    <dgm:cxn modelId="{42C028D4-DF31-4907-91AD-802669E6E291}" type="presParOf" srcId="{E502823E-B483-4D37-96E4-9BDE78E1FC7E}" destId="{9CDCE1AB-177B-4DD0-8130-952BD39BB1CC}" srcOrd="2" destOrd="0" presId="urn:microsoft.com/office/officeart/2018/2/layout/IconCircleList"/>
    <dgm:cxn modelId="{EC358F15-7DEC-4CE8-8087-B9DBF0692AD5}" type="presParOf" srcId="{E502823E-B483-4D37-96E4-9BDE78E1FC7E}" destId="{7C8734A6-3541-4BC4-80E4-0CE2823C045E}" srcOrd="3" destOrd="0" presId="urn:microsoft.com/office/officeart/2018/2/layout/IconCircleList"/>
    <dgm:cxn modelId="{73C8F0FD-FBE1-43B6-B373-2AAFBACF551F}" type="presParOf" srcId="{57336773-723C-4AF9-A111-366C8CEAE5C6}" destId="{FEAEFC88-00BF-4F08-8584-9450D5C521CF}" srcOrd="1" destOrd="0" presId="urn:microsoft.com/office/officeart/2018/2/layout/IconCircleList"/>
    <dgm:cxn modelId="{C90CC907-1690-4D2E-9D53-36940DA0EC7F}" type="presParOf" srcId="{57336773-723C-4AF9-A111-366C8CEAE5C6}" destId="{0E0136F6-88E4-4FEE-B390-06F9544D558A}" srcOrd="2" destOrd="0" presId="urn:microsoft.com/office/officeart/2018/2/layout/IconCircleList"/>
    <dgm:cxn modelId="{3A343557-0BE7-4BC5-A15F-7686B1DFB37D}" type="presParOf" srcId="{0E0136F6-88E4-4FEE-B390-06F9544D558A}" destId="{2B13CA9C-79EF-481A-A0A6-4FAD7A097899}" srcOrd="0" destOrd="0" presId="urn:microsoft.com/office/officeart/2018/2/layout/IconCircleList"/>
    <dgm:cxn modelId="{2DAD9BC0-6011-47EA-9DF2-BB643C663E52}" type="presParOf" srcId="{0E0136F6-88E4-4FEE-B390-06F9544D558A}" destId="{C8A58926-A8FF-4C18-B715-0005EBA5F0D4}" srcOrd="1" destOrd="0" presId="urn:microsoft.com/office/officeart/2018/2/layout/IconCircleList"/>
    <dgm:cxn modelId="{FD2963F1-E7D5-419B-BF5C-CDCFDCB04F6D}" type="presParOf" srcId="{0E0136F6-88E4-4FEE-B390-06F9544D558A}" destId="{F68722F5-E99B-4ED9-8960-1808092444FC}" srcOrd="2" destOrd="0" presId="urn:microsoft.com/office/officeart/2018/2/layout/IconCircleList"/>
    <dgm:cxn modelId="{0DDD3E1E-0EC7-4B73-B635-D38FC3CF0346}" type="presParOf" srcId="{0E0136F6-88E4-4FEE-B390-06F9544D558A}" destId="{AB4A8437-605F-4716-AB15-B3B21F561780}" srcOrd="3" destOrd="0" presId="urn:microsoft.com/office/officeart/2018/2/layout/IconCircleList"/>
    <dgm:cxn modelId="{FCC19F61-D35F-42C3-9ACF-9D3AFEC80230}" type="presParOf" srcId="{57336773-723C-4AF9-A111-366C8CEAE5C6}" destId="{2BAE9B29-10BB-4122-90B5-4B560A909510}" srcOrd="3" destOrd="0" presId="urn:microsoft.com/office/officeart/2018/2/layout/IconCircleList"/>
    <dgm:cxn modelId="{208FAB56-D5EB-4346-9B86-4DFCFAC9B013}" type="presParOf" srcId="{57336773-723C-4AF9-A111-366C8CEAE5C6}" destId="{4BE86108-FF52-440A-9255-08E9781C5579}" srcOrd="4" destOrd="0" presId="urn:microsoft.com/office/officeart/2018/2/layout/IconCircleList"/>
    <dgm:cxn modelId="{622A2247-70FB-4D03-B3E0-9EEBB0067287}" type="presParOf" srcId="{4BE86108-FF52-440A-9255-08E9781C5579}" destId="{695C6D5F-592C-4F48-BF53-718676A8E11E}" srcOrd="0" destOrd="0" presId="urn:microsoft.com/office/officeart/2018/2/layout/IconCircleList"/>
    <dgm:cxn modelId="{AC5ED227-7944-4B02-92CF-1B6F49F6BDD8}" type="presParOf" srcId="{4BE86108-FF52-440A-9255-08E9781C5579}" destId="{6BBCA64F-8EDE-4F20-B9B3-04E8C286A0ED}" srcOrd="1" destOrd="0" presId="urn:microsoft.com/office/officeart/2018/2/layout/IconCircleList"/>
    <dgm:cxn modelId="{79228B4E-5C6F-406A-8F10-60D62933B0D8}" type="presParOf" srcId="{4BE86108-FF52-440A-9255-08E9781C5579}" destId="{38EED7F1-C582-4323-8FE9-1D83D292A572}" srcOrd="2" destOrd="0" presId="urn:microsoft.com/office/officeart/2018/2/layout/IconCircleList"/>
    <dgm:cxn modelId="{FFFD24F5-919A-4535-B07E-455E43C1E87C}" type="presParOf" srcId="{4BE86108-FF52-440A-9255-08E9781C5579}" destId="{FBF213FE-8657-4C8F-A0BE-6B3AF9F7CE61}" srcOrd="3" destOrd="0" presId="urn:microsoft.com/office/officeart/2018/2/layout/IconCircleList"/>
    <dgm:cxn modelId="{CFB0A36C-0E65-4220-A300-F528361E2361}" type="presParOf" srcId="{57336773-723C-4AF9-A111-366C8CEAE5C6}" destId="{7AE45A29-9E3D-4385-A210-267C99D74DD6}" srcOrd="5" destOrd="0" presId="urn:microsoft.com/office/officeart/2018/2/layout/IconCircleList"/>
    <dgm:cxn modelId="{EBBA42CE-1634-48CB-A103-CA13D8213D1D}" type="presParOf" srcId="{57336773-723C-4AF9-A111-366C8CEAE5C6}" destId="{9D7E0C4C-AF9E-4683-BA37-F358D7CB7CAB}" srcOrd="6" destOrd="0" presId="urn:microsoft.com/office/officeart/2018/2/layout/IconCircleList"/>
    <dgm:cxn modelId="{61EACBC0-6B0A-420C-BA0E-F573DF2B8820}" type="presParOf" srcId="{9D7E0C4C-AF9E-4683-BA37-F358D7CB7CAB}" destId="{778EDEDD-4DEA-447F-A004-D2853D486C61}" srcOrd="0" destOrd="0" presId="urn:microsoft.com/office/officeart/2018/2/layout/IconCircleList"/>
    <dgm:cxn modelId="{9EB5370C-B4D1-4B3F-A7F9-443CC68EC890}" type="presParOf" srcId="{9D7E0C4C-AF9E-4683-BA37-F358D7CB7CAB}" destId="{20C07CAB-DE6D-40C9-8D90-02DB263C53EC}" srcOrd="1" destOrd="0" presId="urn:microsoft.com/office/officeart/2018/2/layout/IconCircleList"/>
    <dgm:cxn modelId="{07D4BC58-AC1B-4769-9B39-7F850C12245C}" type="presParOf" srcId="{9D7E0C4C-AF9E-4683-BA37-F358D7CB7CAB}" destId="{5ECB3DBC-35E9-494E-B74E-0B77E1A7DA7C}" srcOrd="2" destOrd="0" presId="urn:microsoft.com/office/officeart/2018/2/layout/IconCircleList"/>
    <dgm:cxn modelId="{EFB6EF6D-CB18-4CF6-8B26-719BC17DE3EC}" type="presParOf" srcId="{9D7E0C4C-AF9E-4683-BA37-F358D7CB7CAB}" destId="{DB32D199-BB3D-4DEF-A308-9FAD928CBF06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40B22D3-06E3-48F7-9DAA-0718F4182994}">
      <dsp:nvSpPr>
        <dsp:cNvPr id="0" name=""/>
        <dsp:cNvSpPr/>
      </dsp:nvSpPr>
      <dsp:spPr>
        <a:xfrm>
          <a:off x="134825" y="29620"/>
          <a:ext cx="1295909" cy="1295909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458B6A3-DC49-42CC-89A2-38ABF975D458}">
      <dsp:nvSpPr>
        <dsp:cNvPr id="0" name=""/>
        <dsp:cNvSpPr/>
      </dsp:nvSpPr>
      <dsp:spPr>
        <a:xfrm>
          <a:off x="406966" y="301761"/>
          <a:ext cx="751627" cy="75162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C8734A6-3541-4BC4-80E4-0CE2823C045E}">
      <dsp:nvSpPr>
        <dsp:cNvPr id="0" name=""/>
        <dsp:cNvSpPr/>
      </dsp:nvSpPr>
      <dsp:spPr>
        <a:xfrm>
          <a:off x="1708430" y="29620"/>
          <a:ext cx="3054644" cy="12959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/>
            <a:t>• Progressive fault injection produces a systematic rise in vibration features, which is reflected as a clear degradation trend in the health index. </a:t>
          </a:r>
          <a:endParaRPr lang="en-US" sz="1500" kern="1200"/>
        </a:p>
      </dsp:txBody>
      <dsp:txXfrm>
        <a:off x="1708430" y="29620"/>
        <a:ext cx="3054644" cy="1295909"/>
      </dsp:txXfrm>
    </dsp:sp>
    <dsp:sp modelId="{2B13CA9C-79EF-481A-A0A6-4FAD7A097899}">
      <dsp:nvSpPr>
        <dsp:cNvPr id="0" name=""/>
        <dsp:cNvSpPr/>
      </dsp:nvSpPr>
      <dsp:spPr>
        <a:xfrm>
          <a:off x="5295324" y="29620"/>
          <a:ext cx="1295909" cy="1295909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8A58926-A8FF-4C18-B715-0005EBA5F0D4}">
      <dsp:nvSpPr>
        <dsp:cNvPr id="0" name=""/>
        <dsp:cNvSpPr/>
      </dsp:nvSpPr>
      <dsp:spPr>
        <a:xfrm>
          <a:off x="5567465" y="301761"/>
          <a:ext cx="751627" cy="75162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B4A8437-605F-4716-AB15-B3B21F561780}">
      <dsp:nvSpPr>
        <dsp:cNvPr id="0" name=""/>
        <dsp:cNvSpPr/>
      </dsp:nvSpPr>
      <dsp:spPr>
        <a:xfrm>
          <a:off x="6868929" y="29620"/>
          <a:ext cx="3054644" cy="12959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/>
            <a:t>• Normalization against the healthy baseline converts raw signal changes into an interpretable health scale, enabling consistent comparison across runs. </a:t>
          </a:r>
          <a:endParaRPr lang="en-US" sz="1500" kern="1200"/>
        </a:p>
      </dsp:txBody>
      <dsp:txXfrm>
        <a:off x="6868929" y="29620"/>
        <a:ext cx="3054644" cy="1295909"/>
      </dsp:txXfrm>
    </dsp:sp>
    <dsp:sp modelId="{695C6D5F-592C-4F48-BF53-718676A8E11E}">
      <dsp:nvSpPr>
        <dsp:cNvPr id="0" name=""/>
        <dsp:cNvSpPr/>
      </dsp:nvSpPr>
      <dsp:spPr>
        <a:xfrm>
          <a:off x="134825" y="1868519"/>
          <a:ext cx="1295909" cy="1295909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BBCA64F-8EDE-4F20-B9B3-04E8C286A0ED}">
      <dsp:nvSpPr>
        <dsp:cNvPr id="0" name=""/>
        <dsp:cNvSpPr/>
      </dsp:nvSpPr>
      <dsp:spPr>
        <a:xfrm>
          <a:off x="406966" y="2140660"/>
          <a:ext cx="751627" cy="75162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BF213FE-8657-4C8F-A0BE-6B3AF9F7CE61}">
      <dsp:nvSpPr>
        <dsp:cNvPr id="0" name=""/>
        <dsp:cNvSpPr/>
      </dsp:nvSpPr>
      <dsp:spPr>
        <a:xfrm>
          <a:off x="1708430" y="1868519"/>
          <a:ext cx="3054644" cy="12959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/>
            <a:t>• Variations in the RUL curve indicate the sensitivity of prediction to recent degradation rate, and a stabilizing RUL trend suggests steady degradation behavior. </a:t>
          </a:r>
          <a:endParaRPr lang="en-US" sz="1500" kern="1200"/>
        </a:p>
      </dsp:txBody>
      <dsp:txXfrm>
        <a:off x="1708430" y="1868519"/>
        <a:ext cx="3054644" cy="1295909"/>
      </dsp:txXfrm>
    </dsp:sp>
    <dsp:sp modelId="{778EDEDD-4DEA-447F-A004-D2853D486C61}">
      <dsp:nvSpPr>
        <dsp:cNvPr id="0" name=""/>
        <dsp:cNvSpPr/>
      </dsp:nvSpPr>
      <dsp:spPr>
        <a:xfrm>
          <a:off x="5295324" y="1868519"/>
          <a:ext cx="1295909" cy="1295909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0C07CAB-DE6D-40C9-8D90-02DB263C53EC}">
      <dsp:nvSpPr>
        <dsp:cNvPr id="0" name=""/>
        <dsp:cNvSpPr/>
      </dsp:nvSpPr>
      <dsp:spPr>
        <a:xfrm>
          <a:off x="5567465" y="2140660"/>
          <a:ext cx="751627" cy="751627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B32D199-BB3D-4DEF-A308-9FAD928CBF06}">
      <dsp:nvSpPr>
        <dsp:cNvPr id="0" name=""/>
        <dsp:cNvSpPr/>
      </dsp:nvSpPr>
      <dsp:spPr>
        <a:xfrm>
          <a:off x="6868929" y="1868519"/>
          <a:ext cx="3054644" cy="12959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/>
            <a:t>• The combined view of severity, health index, and RUL links root cause, current condition, and expected remaining life for maintenance planning. </a:t>
          </a:r>
          <a:endParaRPr lang="en-US" sz="1500" kern="1200"/>
        </a:p>
      </dsp:txBody>
      <dsp:txXfrm>
        <a:off x="6868929" y="1868519"/>
        <a:ext cx="3054644" cy="129590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8742700-B0A4-E665-C50D-5BA2509EE5B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57A53E-DC12-4EF1-FB69-EF7C780D9ED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85DB5A-F0F5-4A5C-B9AE-9686F91EDAA9}" type="datetimeFigureOut">
              <a:rPr lang="en-IN" smtClean="0"/>
              <a:t>14-01-2026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D0B637-B3B9-E206-142D-B4A217AA43E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6C3A66-6EFA-94A2-2105-4F780E778C8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50F088-8B89-431B-894B-2E60B5E9FA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4493520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A349DF-9BAC-4A39-8924-FC93259EB14F}" type="datetimeFigureOut">
              <a:rPr lang="en-IN" smtClean="0"/>
              <a:t>14-01-2026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47B41F-7AF3-4088-BA26-5390068606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326510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“This project focuses on building a </a:t>
            </a:r>
            <a:r>
              <a:rPr lang="en-IN" b="1" dirty="0"/>
              <a:t>digital twin of a rotating shaft system</a:t>
            </a:r>
            <a:r>
              <a:rPr lang="en-IN" dirty="0"/>
              <a:t> to enable </a:t>
            </a:r>
            <a:r>
              <a:rPr lang="en-IN" b="1" dirty="0"/>
              <a:t>predictive maintenance</a:t>
            </a:r>
            <a:r>
              <a:rPr lang="en-IN" dirty="0"/>
              <a:t>.</a:t>
            </a:r>
            <a:br>
              <a:rPr lang="en-IN" dirty="0"/>
            </a:br>
            <a:r>
              <a:rPr lang="en-IN" dirty="0"/>
              <a:t>We use </a:t>
            </a:r>
            <a:r>
              <a:rPr lang="en-IN" b="1" dirty="0"/>
              <a:t>MATLAB Simulink and Simscape</a:t>
            </a:r>
            <a:r>
              <a:rPr lang="en-IN" dirty="0"/>
              <a:t> to model the physical system and apply a </a:t>
            </a:r>
            <a:r>
              <a:rPr lang="en-IN" b="1" dirty="0"/>
              <a:t>machine learning pipeline</a:t>
            </a:r>
            <a:r>
              <a:rPr lang="en-IN" dirty="0"/>
              <a:t> to predict failures early.</a:t>
            </a:r>
            <a:br>
              <a:rPr lang="en-IN" dirty="0"/>
            </a:br>
            <a:r>
              <a:rPr lang="en-IN" dirty="0"/>
              <a:t>The goal is to reduce unplanned downtime and maintenance costs in industrial rotating machinery.”</a:t>
            </a:r>
          </a:p>
          <a:p>
            <a:r>
              <a:rPr lang="en-IN" b="1" dirty="0"/>
              <a:t>❓ Possible Questions &amp; Answers</a:t>
            </a:r>
          </a:p>
          <a:p>
            <a:r>
              <a:rPr lang="en-IN" b="1" dirty="0"/>
              <a:t>Q: What is a digital twin?</a:t>
            </a:r>
            <a:br>
              <a:rPr lang="en-IN" dirty="0"/>
            </a:br>
            <a:r>
              <a:rPr lang="en-IN" dirty="0"/>
              <a:t>A: A digital twin is a </a:t>
            </a:r>
            <a:r>
              <a:rPr lang="en-IN" b="1" dirty="0"/>
              <a:t>virtual replica of a physical system</a:t>
            </a:r>
            <a:r>
              <a:rPr lang="en-IN" dirty="0"/>
              <a:t> that continuously updates using real-time data to monitor health and predict failures.</a:t>
            </a:r>
          </a:p>
          <a:p>
            <a:r>
              <a:rPr lang="en-IN" b="1" dirty="0"/>
              <a:t>Q: Why rotating shafts?</a:t>
            </a:r>
            <a:br>
              <a:rPr lang="en-IN" dirty="0"/>
            </a:br>
            <a:r>
              <a:rPr lang="en-IN" dirty="0"/>
              <a:t>A: Rotating shafts are </a:t>
            </a:r>
            <a:r>
              <a:rPr lang="en-IN" b="1" dirty="0"/>
              <a:t>critical components</a:t>
            </a:r>
            <a:r>
              <a:rPr lang="en-IN" dirty="0"/>
              <a:t> in motors and turbines, and failures can cause </a:t>
            </a:r>
            <a:r>
              <a:rPr lang="en-IN" b="1" dirty="0"/>
              <a:t>huge downtime losses</a:t>
            </a:r>
            <a:r>
              <a:rPr lang="en-IN" dirty="0"/>
              <a:t>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47B41F-7AF3-4088-BA26-5390068606C9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28366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F1C9F-E07F-4340-B4E5-FAE17BA9C775}" type="datetime1">
              <a:rPr lang="en-US" smtClean="0"/>
              <a:t>1/14/2026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99102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FC0A0-CA26-43BC-87B4-9EC43BF31270}" type="datetime1">
              <a:rPr lang="en-US" smtClean="0"/>
              <a:t>1/14/2026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79779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4D8B6-01B6-4086-A285-C98F2CD9B768}" type="datetime1">
              <a:rPr lang="en-US" smtClean="0"/>
              <a:t>1/14/2026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48374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123C07-F4F4-430F-AB12-5DEEF05D6435}" type="datetime1">
              <a:rPr lang="en-US" smtClean="0"/>
              <a:t>1/14/2026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14643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C50FC-B8EA-4A24-8496-7136BDD21223}" type="datetime1">
              <a:rPr lang="en-US" smtClean="0"/>
              <a:t>1/14/2026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01484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9312C9-BD46-411A-8C06-40D3FE93210B}" type="datetime1">
              <a:rPr lang="en-US" smtClean="0"/>
              <a:t>1/14/2026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13000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AF648-B8C6-40B4-BE9B-CA1C9612689A}" type="datetime1">
              <a:rPr lang="en-US" smtClean="0"/>
              <a:t>1/14/2026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78986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/>
          <a:lstStyle>
            <a:lvl1pPr algn="l">
              <a:defRPr/>
            </a:lvl1pPr>
          </a:lstStyle>
          <a:p>
            <a:fld id="{DB723454-7068-4E97-B219-4214B182D492}" type="datetime1">
              <a:rPr lang="en-US" smtClean="0"/>
              <a:t>1/14/2026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96285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2A7B1EB-BD49-4029-AB03-8DF0A2119CD0}" type="datetime1">
              <a:rPr lang="en-US" smtClean="0"/>
              <a:t>1/14/2026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4654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5506EE-1026-4F35-9ACC-BD05BE0F9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BD870-CDA3-4540-BFED-007C62D992C2}" type="datetime1">
              <a:rPr lang="en-US" smtClean="0"/>
              <a:t>1/14/2026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696E5F-8D95-4450-AE52-5438E6ED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9B2253-74CC-409E-BEB0-F8EFCFCB5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72599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1B68A5B-D9FA-424B-A4EB-30E7223836B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33D6B0-F070-45C4-A472-19F432BE3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77F1B-42C6-4979-B7E0-E348AA7FE90E}" type="datetime1">
              <a:rPr lang="en-US" smtClean="0"/>
              <a:t>1/14/2026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75399F-DAB2-410D-967F-ED17E6F79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762A46F-6BE5-4D12-9412-5CA7672EA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56078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fld id="{4D2E41F8-D78A-4C08-A783-864D1E6D2D93}" type="datetime1">
              <a:rPr lang="en-US" smtClean="0"/>
              <a:t>1/14/2026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68662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20" r:id="rId2"/>
    <p:sldLayoutId id="2147483721" r:id="rId3"/>
    <p:sldLayoutId id="2147483722" r:id="rId4"/>
    <p:sldLayoutId id="2147483723" r:id="rId5"/>
    <p:sldLayoutId id="2147483717" r:id="rId6"/>
    <p:sldLayoutId id="2147483713" r:id="rId7"/>
    <p:sldLayoutId id="2147483714" r:id="rId8"/>
    <p:sldLayoutId id="2147483715" r:id="rId9"/>
    <p:sldLayoutId id="2147483716" r:id="rId10"/>
    <p:sldLayoutId id="2147483718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2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2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2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2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2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416A0E3C-60E6-4F39-BC55-5F7C224E1F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C5025DAC-8B93-4160-B017-3A274A5828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B0E58038-8ACE-4AD9-B404-25C603550D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CNC lathe processing">
            <a:extLst>
              <a:ext uri="{FF2B5EF4-FFF2-40B4-BE49-F238E27FC236}">
                <a16:creationId xmlns:a16="http://schemas.microsoft.com/office/drawing/2014/main" id="{9ACCB7D6-5EFA-FD29-BF6A-1E0D0361BA53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5000"/>
          </a:blip>
          <a:srcRect t="15730"/>
          <a:stretch>
            <a:fillRect/>
          </a:stretch>
        </p:blipFill>
        <p:spPr>
          <a:xfrm>
            <a:off x="-3155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385EE5B-D131-DB16-D052-912D331205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66799" y="332323"/>
            <a:ext cx="10058400" cy="145075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7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Digital Twin of a Rotating Shaft for Predictive Maintenance using MATLAB Simulink and </a:t>
            </a:r>
            <a:r>
              <a:rPr lang="en-US" sz="37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Simscape</a:t>
            </a:r>
            <a:endParaRPr lang="en-US" sz="37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38A34772-9011-42B5-AA63-FD6DEC92EE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910746"/>
            <a:ext cx="996696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ubtitle 2">
            <a:extLst>
              <a:ext uri="{FF2B5EF4-FFF2-40B4-BE49-F238E27FC236}">
                <a16:creationId xmlns:a16="http://schemas.microsoft.com/office/drawing/2014/main" id="{B81817D3-A9DE-146C-7AB7-7A261AE471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0871" y="4183434"/>
            <a:ext cx="7254910" cy="2230732"/>
          </a:xfrm>
        </p:spPr>
        <p:txBody>
          <a:bodyPr vert="horz" lIns="0" tIns="45720" rIns="0" bIns="45720" rtlCol="0">
            <a:normAutofit lnSpcReduction="10000"/>
          </a:bodyPr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MDM2104 – Case Study: Intelligent Systems in Production</a:t>
            </a:r>
          </a:p>
          <a:p>
            <a:pPr>
              <a:lnSpc>
                <a:spcPct val="100000"/>
              </a:lnSpc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Group 9</a:t>
            </a:r>
          </a:p>
          <a:p>
            <a:pPr>
              <a:lnSpc>
                <a:spcPct val="100000"/>
              </a:lnSpc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Sameer K. Subair</a:t>
            </a:r>
          </a:p>
          <a:p>
            <a:pPr>
              <a:lnSpc>
                <a:spcPct val="100000"/>
              </a:lnSpc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Karthik Gopi</a:t>
            </a:r>
          </a:p>
          <a:p>
            <a:pPr>
              <a:lnSpc>
                <a:spcPct val="100000"/>
              </a:lnSpc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Nihal Sait Nishan</a:t>
            </a:r>
          </a:p>
          <a:p>
            <a:pPr>
              <a:lnSpc>
                <a:spcPct val="100000"/>
              </a:lnSpc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Abdul Rashid </a:t>
            </a: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Kundladi</a:t>
            </a: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00000"/>
              </a:lnSpc>
            </a:pP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2BCDE19-2810-4337-9C49-8589C42176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rgbClr val="262626">
              <a:alpha val="9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BCF55D-2A7D-BD41-95E0-13C5D081D9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777810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558DB37-9FEE-48A2-8578-ED04015739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F7FCCA6-00E2-4F74-A105-0D769872F2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0"/>
            <a:ext cx="12188952" cy="1905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9FD1A66-FC5D-3C4D-1E7B-EBB99938A6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anchor="ctr"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Outline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2B7A65-2EC9-A301-8D47-9B5A89363A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6963" y="2675694"/>
            <a:ext cx="10058400" cy="3193294"/>
          </a:xfrm>
        </p:spPr>
        <p:txBody>
          <a:bodyPr>
            <a:normAutofit/>
          </a:bodyPr>
          <a:lstStyle/>
          <a:p>
            <a:pPr marL="342900" indent="-342900">
              <a:buClr>
                <a:schemeClr val="tx1">
                  <a:lumMod val="95000"/>
                  <a:lumOff val="5000"/>
                </a:schemeClr>
              </a:buClr>
              <a:buFont typeface="+mj-lt"/>
              <a:buAutoNum type="arabicPeriod"/>
            </a:pPr>
            <a:r>
              <a:rPr lang="en-US" sz="2800" dirty="0"/>
              <a:t>Problem Statement </a:t>
            </a:r>
          </a:p>
          <a:p>
            <a:pPr marL="342900" indent="-342900">
              <a:buClr>
                <a:schemeClr val="tx1">
                  <a:lumMod val="95000"/>
                  <a:lumOff val="5000"/>
                </a:schemeClr>
              </a:buClr>
              <a:buFont typeface="+mj-lt"/>
              <a:buAutoNum type="arabicPeriod"/>
            </a:pPr>
            <a:r>
              <a:rPr lang="en-US" sz="2800" dirty="0"/>
              <a:t>Results &amp; Validation </a:t>
            </a:r>
          </a:p>
          <a:p>
            <a:pPr marL="342900" indent="-342900">
              <a:buClr>
                <a:schemeClr val="tx1">
                  <a:lumMod val="95000"/>
                  <a:lumOff val="5000"/>
                </a:schemeClr>
              </a:buClr>
              <a:buFont typeface="+mj-lt"/>
              <a:buAutoNum type="arabicPeriod"/>
            </a:pPr>
            <a:r>
              <a:rPr lang="en-US" sz="2800" dirty="0"/>
              <a:t>References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59CEC61-F44B-43B3-B40F-AE38C5AF1D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2A2672-E263-8C8D-D226-A7AF2551F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3582" y="6446838"/>
            <a:ext cx="78001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3A98EE3D-8CD1-4C3F-BD1C-C98C9596463C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03582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558DB37-9FEE-48A2-8578-ED04015739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F7FCCA6-00E2-4F74-A105-0D769872F2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0"/>
            <a:ext cx="12188952" cy="1905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A265F3-E3F2-9AC8-E339-872C7A468E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anchor="ctr"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Industrial Problem &amp; Motivation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0C4F10-37E0-52AE-DD8B-10AEEFA97C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783" y="2286935"/>
            <a:ext cx="10058400" cy="3731930"/>
          </a:xfrm>
        </p:spPr>
        <p:txBody>
          <a:bodyPr>
            <a:normAutofit/>
          </a:bodyPr>
          <a:lstStyle/>
          <a:p>
            <a:r>
              <a:rPr lang="en-IN" dirty="0"/>
              <a:t>• </a:t>
            </a:r>
            <a:r>
              <a:rPr lang="en-IN" b="1" dirty="0"/>
              <a:t>Problem</a:t>
            </a:r>
            <a:r>
              <a:rPr lang="en-IN" dirty="0"/>
              <a:t>: Rotating shafts in industrial machinery develop mechanical faults that increase vibration and can cause unexpected breakdowns. </a:t>
            </a:r>
          </a:p>
          <a:p>
            <a:r>
              <a:rPr lang="en-IN" dirty="0"/>
              <a:t>• </a:t>
            </a:r>
            <a:r>
              <a:rPr lang="en-IN" b="1" dirty="0"/>
              <a:t>Why it matters</a:t>
            </a:r>
            <a:r>
              <a:rPr lang="en-IN" dirty="0"/>
              <a:t>: Unplanned failures lead to downtime, higher maintenance cost, and potential secondary damage to connected components.</a:t>
            </a:r>
          </a:p>
          <a:p>
            <a:r>
              <a:rPr lang="en-IN" dirty="0"/>
              <a:t> • </a:t>
            </a:r>
            <a:r>
              <a:rPr lang="en-IN" b="1" dirty="0"/>
              <a:t>Failure modes</a:t>
            </a:r>
            <a:r>
              <a:rPr lang="en-IN" dirty="0"/>
              <a:t>: Imbalance, misalignment, bearing degradation, looseness, and resonance effects near critical speeds. </a:t>
            </a:r>
          </a:p>
          <a:p>
            <a:r>
              <a:rPr lang="en-IN" dirty="0"/>
              <a:t>• </a:t>
            </a:r>
            <a:r>
              <a:rPr lang="en-IN" b="1" dirty="0"/>
              <a:t>Goal</a:t>
            </a:r>
            <a:r>
              <a:rPr lang="en-IN" dirty="0"/>
              <a:t>: Create a physics-based digital twin in MATLAB Simulink and Simscape to reproduce shaft dynamics, monitor vibration signatures, and support predictive maintenance decisions. </a:t>
            </a:r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59CEC61-F44B-43B3-B40F-AE38C5AF1D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0AA4F3-17E0-F10E-DEAB-73CE250FC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3582" y="6446838"/>
            <a:ext cx="78001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3A98EE3D-8CD1-4C3F-BD1C-C98C9596463C}" type="slidenum">
              <a:rPr lang="en-US" smtClean="0"/>
              <a:pPr>
                <a:spcAft>
                  <a:spcPts val="600"/>
                </a:spcAft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23278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558DB37-9FEE-48A2-8578-ED04015739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F7FCCA6-00E2-4F74-A105-0D769872F2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0"/>
            <a:ext cx="12188952" cy="1905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F196C3-4FE4-BC11-82D6-3A69B59828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anchor="ctr"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Objectives &amp;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AFBC37-F8D2-5C64-F73A-BFA7881C4D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3253" y="2146679"/>
            <a:ext cx="10725459" cy="4012442"/>
          </a:xfrm>
        </p:spPr>
        <p:txBody>
          <a:bodyPr>
            <a:normAutofit lnSpcReduction="10000"/>
          </a:bodyPr>
          <a:lstStyle/>
          <a:p>
            <a:r>
              <a:rPr lang="en-IN" dirty="0"/>
              <a:t>• </a:t>
            </a:r>
            <a:r>
              <a:rPr lang="en-IN" b="1" dirty="0"/>
              <a:t>Objective 1</a:t>
            </a:r>
            <a:r>
              <a:rPr lang="en-IN" dirty="0"/>
              <a:t>: Develop a physics-based digital twin of a rotating shaft system using MATLAB Simulink and Simscape. </a:t>
            </a:r>
          </a:p>
          <a:p>
            <a:r>
              <a:rPr lang="en-IN" dirty="0"/>
              <a:t>• </a:t>
            </a:r>
            <a:r>
              <a:rPr lang="en-IN" b="1" dirty="0"/>
              <a:t>Objective 2</a:t>
            </a:r>
            <a:r>
              <a:rPr lang="en-IN" dirty="0"/>
              <a:t>: Generate virtual sensor signals (vibration, torque, speed) under healthy and degraded conditions</a:t>
            </a:r>
          </a:p>
          <a:p>
            <a:r>
              <a:rPr lang="en-IN" dirty="0"/>
              <a:t>• </a:t>
            </a:r>
            <a:r>
              <a:rPr lang="en-IN" b="1" dirty="0"/>
              <a:t>Objective 3</a:t>
            </a:r>
            <a:r>
              <a:rPr lang="en-IN" dirty="0"/>
              <a:t>: Extract time- and frequency-domain indicators to detect fault signatures and support predictive maintenance. </a:t>
            </a:r>
          </a:p>
          <a:p>
            <a:r>
              <a:rPr lang="en-IN" b="1" dirty="0"/>
              <a:t>Scope / Assumptions </a:t>
            </a:r>
          </a:p>
          <a:p>
            <a:r>
              <a:rPr lang="en-IN" dirty="0"/>
              <a:t>• Predict Remaining Useful Life (RUL) using a data-driven model trained on simulated lifecycle data</a:t>
            </a:r>
          </a:p>
          <a:p>
            <a:r>
              <a:rPr lang="en-IN" dirty="0"/>
              <a:t>• Visualize health index, degradation severity, and predicted RUL through a monitoring dashboard</a:t>
            </a:r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59CEC61-F44B-43B3-B40F-AE38C5AF1D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691919-FD65-DD99-51EA-7675CDADA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3582" y="6446838"/>
            <a:ext cx="78001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3A98EE3D-8CD1-4C3F-BD1C-C98C9596463C}" type="slidenum">
              <a:rPr lang="en-US" smtClean="0"/>
              <a:pPr>
                <a:spcAft>
                  <a:spcPts val="600"/>
                </a:spcAft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11392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558DB37-9FEE-48A2-8578-ED04015739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F7FCCA6-00E2-4F74-A105-0D769872F2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0"/>
            <a:ext cx="12188952" cy="1905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46486B-8C77-F9B6-B276-E8C4982262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anchor="ctr"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System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C2B49F-C08B-7FFB-6E47-F9739104D1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1518" y="2191603"/>
            <a:ext cx="10629924" cy="3906217"/>
          </a:xfrm>
        </p:spPr>
        <p:txBody>
          <a:bodyPr>
            <a:normAutofit/>
          </a:bodyPr>
          <a:lstStyle/>
          <a:p>
            <a:r>
              <a:rPr lang="en-IN" dirty="0"/>
              <a:t>• </a:t>
            </a:r>
            <a:r>
              <a:rPr lang="en-IN" b="1" dirty="0"/>
              <a:t>Physical model</a:t>
            </a:r>
            <a:r>
              <a:rPr lang="en-IN" dirty="0"/>
              <a:t>: Actuation gain drives an inertia–damping shaft model with a fixed mechanical reference.</a:t>
            </a:r>
          </a:p>
          <a:p>
            <a:r>
              <a:rPr lang="en-IN" dirty="0"/>
              <a:t> • </a:t>
            </a:r>
            <a:r>
              <a:rPr lang="en-IN" b="1" dirty="0"/>
              <a:t>Sensing</a:t>
            </a:r>
            <a:r>
              <a:rPr lang="en-IN" dirty="0"/>
              <a:t>: Virtual measurements of angular speed, shaft torque, and a vibration-related signal derived from the mechanical response.</a:t>
            </a:r>
          </a:p>
          <a:p>
            <a:r>
              <a:rPr lang="en-IN" dirty="0"/>
              <a:t> • </a:t>
            </a:r>
            <a:r>
              <a:rPr lang="en-IN" b="1" dirty="0"/>
              <a:t>Data layer</a:t>
            </a:r>
            <a:r>
              <a:rPr lang="en-IN" dirty="0"/>
              <a:t>: Logged simulation outputs exported to the MATLAB workspace for post-processing and comparison across test cases. </a:t>
            </a:r>
          </a:p>
          <a:p>
            <a:r>
              <a:rPr lang="en-IN" dirty="0"/>
              <a:t>• </a:t>
            </a:r>
            <a:r>
              <a:rPr lang="en-IN" b="1" dirty="0"/>
              <a:t>Analytics</a:t>
            </a:r>
            <a:r>
              <a:rPr lang="en-IN" dirty="0"/>
              <a:t>: Time- and frequency-domain analysis using indicators such as RMS and FFT peak components. Monitoring dashboard displaying health, severity, and predicted RUL</a:t>
            </a:r>
          </a:p>
          <a:p>
            <a:r>
              <a:rPr lang="en-IN" dirty="0"/>
              <a:t>• </a:t>
            </a:r>
            <a:r>
              <a:rPr lang="en-IN" b="1" dirty="0"/>
              <a:t>Visualization</a:t>
            </a:r>
            <a:r>
              <a:rPr lang="en-IN" dirty="0"/>
              <a:t>: Monitoring dashboard displaying health, severity, and predicted RUL</a:t>
            </a:r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59CEC61-F44B-43B3-B40F-AE38C5AF1D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BB6845-DF60-7E7E-F124-A9C31D8625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3582" y="6446838"/>
            <a:ext cx="78001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3A98EE3D-8CD1-4C3F-BD1C-C98C9596463C}" type="slidenum">
              <a:rPr lang="en-US" smtClean="0"/>
              <a:pPr>
                <a:spcAft>
                  <a:spcPts val="600"/>
                </a:spcAft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8042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ject 3">
            <a:extLst>
              <a:ext uri="{FF2B5EF4-FFF2-40B4-BE49-F238E27FC236}">
                <a16:creationId xmlns:a16="http://schemas.microsoft.com/office/drawing/2014/main" id="{4CB3A1CF-3D2B-F028-5603-30CD89126079}"/>
              </a:ext>
            </a:extLst>
          </p:cNvPr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648748" y="643467"/>
            <a:ext cx="6894504" cy="5050225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D2848D-FF4A-D633-D18C-75634A76D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3582" y="6446838"/>
            <a:ext cx="78001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3A98EE3D-8CD1-4C3F-BD1C-C98C9596463C}" type="slidenum">
              <a:rPr lang="en-US" smtClean="0"/>
              <a:pPr>
                <a:spcAft>
                  <a:spcPts val="600"/>
                </a:spcAft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71760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558DB37-9FEE-48A2-8578-ED04015739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F7FCCA6-00E2-4F74-A105-0D769872F2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0"/>
            <a:ext cx="12188952" cy="1905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3B49CD4-645D-33E2-14BE-47037B08DB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anchor="ctr">
            <a:normAutofit fontScale="90000"/>
          </a:bodyPr>
          <a:lstStyle/>
          <a:p>
            <a:r>
              <a:rPr lang="en-IN" dirty="0">
                <a:solidFill>
                  <a:srgbClr val="FFFFFF"/>
                </a:solidFill>
              </a:rPr>
              <a:t>Modelling Flow: Digital Twin and Data Generation</a:t>
            </a:r>
            <a:br>
              <a:rPr lang="en-IN" dirty="0">
                <a:solidFill>
                  <a:srgbClr val="FFFFFF"/>
                </a:solidFill>
              </a:rPr>
            </a:b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B08364-03A1-8B89-0383-E16B09372C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4605" y="5268769"/>
            <a:ext cx="10058400" cy="457200"/>
          </a:xfrm>
        </p:spPr>
        <p:txBody>
          <a:bodyPr>
            <a:normAutofit/>
          </a:bodyPr>
          <a:lstStyle/>
          <a:p>
            <a:r>
              <a:rPr lang="en-IN" b="1" dirty="0"/>
              <a:t>Outcome</a:t>
            </a:r>
            <a:r>
              <a:rPr lang="en-IN" dirty="0"/>
              <a:t>: sensor-like time series generated from the physics-based model for prognostics. </a:t>
            </a:r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59CEC61-F44B-43B3-B40F-AE38C5AF1D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F18B4E-7FCA-0163-10C5-F8997FFFFF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3582" y="6446838"/>
            <a:ext cx="78001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3A98EE3D-8CD1-4C3F-BD1C-C98C9596463C}" type="slidenum">
              <a:rPr lang="en-US" smtClean="0"/>
              <a:pPr>
                <a:spcAft>
                  <a:spcPts val="600"/>
                </a:spcAft>
              </a:pPr>
              <a:t>7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90D12F6-0BF4-541D-3E5D-F74B64C072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376" y="2265771"/>
            <a:ext cx="10551474" cy="2687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28336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558DB37-9FEE-48A2-8578-ED04015739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F7FCCA6-00E2-4F74-A105-0D769872F2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0"/>
            <a:ext cx="12188952" cy="1905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257135-CD86-B5B9-2EB7-ADC305C8B0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anchor="ctr">
            <a:normAutofit fontScale="90000"/>
          </a:bodyPr>
          <a:lstStyle/>
          <a:p>
            <a:r>
              <a:rPr lang="en-IN" dirty="0">
                <a:solidFill>
                  <a:srgbClr val="FFFFFF"/>
                </a:solidFill>
              </a:rPr>
              <a:t>Modelling Flow: Feature Pipeline and RUL</a:t>
            </a:r>
            <a:br>
              <a:rPr lang="en-IN" dirty="0">
                <a:solidFill>
                  <a:srgbClr val="FFFFFF"/>
                </a:solidFill>
              </a:rPr>
            </a:br>
            <a:r>
              <a:rPr lang="en-IN" dirty="0">
                <a:solidFill>
                  <a:srgbClr val="FFFFFF"/>
                </a:solidFill>
              </a:rPr>
              <a:t>Prediction</a:t>
            </a:r>
            <a:br>
              <a:rPr lang="en-IN" dirty="0">
                <a:solidFill>
                  <a:srgbClr val="FFFFFF"/>
                </a:solidFill>
              </a:rPr>
            </a:b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A07C31-4E90-3A3E-F482-60556B28EA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783" y="5070877"/>
            <a:ext cx="10058400" cy="726010"/>
          </a:xfrm>
        </p:spPr>
        <p:txBody>
          <a:bodyPr>
            <a:normAutofit/>
          </a:bodyPr>
          <a:lstStyle/>
          <a:p>
            <a:r>
              <a:rPr lang="en-IN" b="1" dirty="0"/>
              <a:t>Outcome</a:t>
            </a:r>
            <a:r>
              <a:rPr lang="en-IN" dirty="0"/>
              <a:t>: a degradation-aware pipeline that produces an RUL estimate from digital-twin signals. </a:t>
            </a:r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59CEC61-F44B-43B3-B40F-AE38C5AF1D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8A901D-9FBC-CC23-C4BC-A6A2D853A6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3582" y="6446838"/>
            <a:ext cx="78001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3A98EE3D-8CD1-4C3F-BD1C-C98C9596463C}" type="slidenum">
              <a:rPr lang="en-US" smtClean="0"/>
              <a:pPr>
                <a:spcAft>
                  <a:spcPts val="600"/>
                </a:spcAft>
              </a:pPr>
              <a:t>8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142517C-2FC7-67A4-CD88-B6C49F6BB8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283" y="2767476"/>
            <a:ext cx="10657211" cy="2185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96063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558DB37-9FEE-48A2-8578-ED04015739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F7FCCA6-00E2-4F74-A105-0D769872F2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0"/>
            <a:ext cx="12188952" cy="1905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A122370-F28E-879F-6ACE-A7A0C0F800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anchor="ctr"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Simulation Setup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234355-D269-334F-8F0D-9AD61BF613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6808" y="2129051"/>
            <a:ext cx="10418384" cy="3947160"/>
          </a:xfrm>
        </p:spPr>
        <p:txBody>
          <a:bodyPr>
            <a:normAutofit lnSpcReduction="10000"/>
          </a:bodyPr>
          <a:lstStyle/>
          <a:p>
            <a:r>
              <a:rPr lang="en-IN" b="1" dirty="0"/>
              <a:t>Operating conditions </a:t>
            </a:r>
          </a:p>
          <a:p>
            <a:r>
              <a:rPr lang="en-IN" dirty="0"/>
              <a:t>• Speed: constant operating speed set in the Simulink model. </a:t>
            </a:r>
          </a:p>
          <a:p>
            <a:r>
              <a:rPr lang="en-IN" dirty="0"/>
              <a:t>• Simulation time / sample rate: fixed-step simulation with signals logged at a uniform sampling interval for analytics. </a:t>
            </a:r>
          </a:p>
          <a:p>
            <a:r>
              <a:rPr lang="en-IN" dirty="0"/>
              <a:t>• Sensors: vibration signal, shaft torque, and angular speed from virtual sensors. </a:t>
            </a:r>
          </a:p>
          <a:p>
            <a:r>
              <a:rPr lang="en-IN" b="1" dirty="0"/>
              <a:t>Data generated for prognostics </a:t>
            </a:r>
          </a:p>
          <a:p>
            <a:r>
              <a:rPr lang="en-IN" dirty="0"/>
              <a:t>• Baseline run to establish nominal feature values. </a:t>
            </a:r>
          </a:p>
          <a:p>
            <a:r>
              <a:rPr lang="en-IN" dirty="0"/>
              <a:t>• Degradation run to generate a time history used for health trend estimation and RUL prediction. </a:t>
            </a:r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59CEC61-F44B-43B3-B40F-AE38C5AF1D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C39E3E-B513-773F-0003-7F0E1BFA81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3582" y="6446838"/>
            <a:ext cx="78001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3A98EE3D-8CD1-4C3F-BD1C-C98C9596463C}" type="slidenum">
              <a:rPr lang="en-US" smtClean="0"/>
              <a:pPr>
                <a:spcAft>
                  <a:spcPts val="600"/>
                </a:spcAft>
              </a:pPr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44987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558DB37-9FEE-48A2-8578-ED04015739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F7FCCA6-00E2-4F74-A105-0D769872F2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0"/>
            <a:ext cx="12188952" cy="1905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AA22855-2A4D-B40B-F13E-D3BEF6197B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anchor="ctr"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Feature Extraction for Prognostics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34A58B-3424-E573-3713-92FEFB2321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3615" y="2388358"/>
            <a:ext cx="10404736" cy="3295935"/>
          </a:xfrm>
        </p:spPr>
        <p:txBody>
          <a:bodyPr>
            <a:normAutofit/>
          </a:bodyPr>
          <a:lstStyle/>
          <a:p>
            <a:r>
              <a:rPr lang="en-IN" dirty="0"/>
              <a:t>• Sensor signals are segmented into fixed-length windows and processed per window.</a:t>
            </a:r>
          </a:p>
          <a:p>
            <a:r>
              <a:rPr lang="en-IN" dirty="0"/>
              <a:t>• </a:t>
            </a:r>
            <a:r>
              <a:rPr lang="en-IN" b="1" dirty="0"/>
              <a:t>Time-domain features</a:t>
            </a:r>
            <a:r>
              <a:rPr lang="en-IN" dirty="0"/>
              <a:t>: RMS vibration, peak-to-peak amplitude, crest factor, kurtosis. </a:t>
            </a:r>
          </a:p>
          <a:p>
            <a:r>
              <a:rPr lang="en-IN" dirty="0"/>
              <a:t>• </a:t>
            </a:r>
            <a:r>
              <a:rPr lang="en-IN" b="1" dirty="0"/>
              <a:t>Frequency-domain features</a:t>
            </a:r>
            <a:r>
              <a:rPr lang="en-IN" dirty="0"/>
              <a:t>: FFT magnitude at dominant components and band-energy measures in selected frequency ranges. </a:t>
            </a:r>
          </a:p>
          <a:p>
            <a:r>
              <a:rPr lang="en-IN" dirty="0"/>
              <a:t>• The resulting feature vector is tracked over time to build a health trend and estimate remaining useful life. </a:t>
            </a:r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59CEC61-F44B-43B3-B40F-AE38C5AF1D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176BF5-9294-BAFE-8D16-CD3D3512E7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3582" y="6446838"/>
            <a:ext cx="78001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3A98EE3D-8CD1-4C3F-BD1C-C98C9596463C}" type="slidenum">
              <a:rPr lang="en-US" smtClean="0"/>
              <a:pPr>
                <a:spcAft>
                  <a:spcPts val="600"/>
                </a:spcAft>
              </a:pPr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35185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558DB37-9FEE-48A2-8578-ED04015739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F7FCCA6-00E2-4F74-A105-0D769872F2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0"/>
            <a:ext cx="12188952" cy="1905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AD425D9-6D3B-8839-FF79-8904A2569D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anchor="ctr">
            <a:normAutofit/>
          </a:bodyPr>
          <a:lstStyle/>
          <a:p>
            <a:r>
              <a:rPr lang="en-IN">
                <a:solidFill>
                  <a:srgbClr val="FFFFFF"/>
                </a:solidFill>
              </a:rPr>
              <a:t>Health Indicator and Degradation Trend</a:t>
            </a: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061097-1E96-7A3F-7100-95D349B019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783" y="4659326"/>
            <a:ext cx="10058400" cy="1531910"/>
          </a:xfrm>
        </p:spPr>
        <p:txBody>
          <a:bodyPr>
            <a:normAutofit fontScale="92500"/>
          </a:bodyPr>
          <a:lstStyle/>
          <a:p>
            <a:r>
              <a:rPr lang="en-IN" sz="1600" dirty="0"/>
              <a:t>• A normalized health index is derived from the extracted features using the healthy baseline as reference. </a:t>
            </a:r>
          </a:p>
          <a:p>
            <a:r>
              <a:rPr lang="en-IN" sz="1600" dirty="0"/>
              <a:t>• The health index is evaluated continuously to quantify the degradation trend over operating time. </a:t>
            </a:r>
          </a:p>
          <a:p>
            <a:r>
              <a:rPr lang="en-IN" sz="1600" dirty="0"/>
              <a:t>• Degradation is generated by progressively injecting fault severity in the model, producing a declining health index used for RUL estimation. </a:t>
            </a:r>
            <a:endParaRPr lang="en-US" sz="160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59CEC61-F44B-43B3-B40F-AE38C5AF1D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F8876C-6664-A2F5-1524-43DA068ED8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3582" y="6446838"/>
            <a:ext cx="78001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3A98EE3D-8CD1-4C3F-BD1C-C98C9596463C}" type="slidenum">
              <a:rPr lang="en-US" smtClean="0"/>
              <a:pPr>
                <a:spcAft>
                  <a:spcPts val="600"/>
                </a:spcAft>
              </a:pPr>
              <a:t>11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A855417-4A7A-684F-2775-44CAE36657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4840" y="2023964"/>
            <a:ext cx="4303312" cy="2337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70832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558DB37-9FEE-48A2-8578-ED04015739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F7FCCA6-00E2-4F74-A105-0D769872F2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0"/>
            <a:ext cx="12188952" cy="1905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619753-6440-32E0-CAA4-D48CB357A3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RUL Prediction Results</a:t>
            </a: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479AD2-A30C-15D7-5607-CC2DCEE2E2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783" y="4715301"/>
            <a:ext cx="10058400" cy="1282889"/>
          </a:xfrm>
        </p:spPr>
        <p:txBody>
          <a:bodyPr>
            <a:normAutofit fontScale="85000" lnSpcReduction="10000"/>
          </a:bodyPr>
          <a:lstStyle/>
          <a:p>
            <a:r>
              <a:rPr lang="en-IN" dirty="0"/>
              <a:t>• RUL is predicted by a trained BiLSTM-attention model using the most recent 30-day feature history.</a:t>
            </a:r>
          </a:p>
          <a:p>
            <a:r>
              <a:rPr lang="en-IN" dirty="0"/>
              <a:t>• The estimate is updated sequentially as new feature windows are generated from the digital twin signals. </a:t>
            </a:r>
          </a:p>
          <a:p>
            <a:r>
              <a:rPr lang="en-IN" dirty="0"/>
              <a:t>• Results are reported as an RUL trend over operating time and a current RUL value for maintenance planning. </a:t>
            </a:r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59CEC61-F44B-43B3-B40F-AE38C5AF1D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1E0B88-A51D-6799-7EDE-2045433015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3582" y="6446838"/>
            <a:ext cx="78001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3A98EE3D-8CD1-4C3F-BD1C-C98C9596463C}" type="slidenum">
              <a:rPr lang="en-US" smtClean="0"/>
              <a:pPr>
                <a:spcAft>
                  <a:spcPts val="600"/>
                </a:spcAft>
              </a:pPr>
              <a:t>12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7BF6F95-CD0B-029B-1351-9BF748B78D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5398" y="1988820"/>
            <a:ext cx="4582164" cy="2642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20581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558DB37-9FEE-48A2-8578-ED04015739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F7FCCA6-00E2-4F74-A105-0D769872F2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0"/>
            <a:ext cx="12188952" cy="1905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A2A7D5C-F856-0B91-4808-FEB05D965A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anchor="ctr"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Monitoring Dashboard for Prognostics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E70D36F3-D83C-2C4A-C53B-5D1BDC306FF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0328" y="2132121"/>
            <a:ext cx="7412304" cy="4041557"/>
          </a:xfr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359CEC61-F44B-43B3-B40F-AE38C5AF1D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81CF40-1D41-83CC-551C-011D73722E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3582" y="6446838"/>
            <a:ext cx="78001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3A98EE3D-8CD1-4C3F-BD1C-C98C9596463C}" type="slidenum">
              <a:rPr lang="en-US" smtClean="0"/>
              <a:pPr>
                <a:spcAft>
                  <a:spcPts val="600"/>
                </a:spcAft>
              </a:pPr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2124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558DB37-9FEE-48A2-8578-ED04015739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F7FCCA6-00E2-4F74-A105-0D769872F2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0"/>
            <a:ext cx="12188952" cy="1905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AB2196-C85A-A307-A545-6ADDC98316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Monitoring Dashboard for Prognostics </a:t>
            </a: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6C9831-418A-A63E-A928-1008535DB9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9212" y="2191603"/>
            <a:ext cx="10740788" cy="3888475"/>
          </a:xfrm>
        </p:spPr>
        <p:txBody>
          <a:bodyPr>
            <a:normAutofit fontScale="85000" lnSpcReduction="20000"/>
          </a:bodyPr>
          <a:lstStyle/>
          <a:p>
            <a:r>
              <a:rPr lang="en-IN" dirty="0"/>
              <a:t>• A MATLAB App Designer dashboard is used to monitor the digital twin outputs in a single view. </a:t>
            </a:r>
          </a:p>
          <a:p>
            <a:r>
              <a:rPr lang="en-IN" dirty="0"/>
              <a:t>• Live plots display the </a:t>
            </a:r>
            <a:r>
              <a:rPr lang="en-IN" b="1" dirty="0"/>
              <a:t>health index</a:t>
            </a:r>
            <a:r>
              <a:rPr lang="en-IN" dirty="0"/>
              <a:t>, </a:t>
            </a:r>
            <a:r>
              <a:rPr lang="en-IN" b="1" dirty="0"/>
              <a:t>fault severity progression</a:t>
            </a:r>
            <a:r>
              <a:rPr lang="en-IN" dirty="0"/>
              <a:t>, and </a:t>
            </a:r>
            <a:r>
              <a:rPr lang="en-IN" b="1" dirty="0"/>
              <a:t>predicted RUL </a:t>
            </a:r>
            <a:r>
              <a:rPr lang="en-IN" dirty="0"/>
              <a:t>over time. </a:t>
            </a:r>
          </a:p>
          <a:p>
            <a:r>
              <a:rPr lang="en-IN" dirty="0"/>
              <a:t>• Control buttons allow the user to </a:t>
            </a:r>
            <a:r>
              <a:rPr lang="en-IN" b="1" dirty="0"/>
              <a:t>start</a:t>
            </a:r>
            <a:r>
              <a:rPr lang="en-IN" dirty="0"/>
              <a:t>,</a:t>
            </a:r>
            <a:r>
              <a:rPr lang="en-IN" b="1" dirty="0"/>
              <a:t> pause</a:t>
            </a:r>
            <a:r>
              <a:rPr lang="en-IN" dirty="0"/>
              <a:t>, and</a:t>
            </a:r>
            <a:r>
              <a:rPr lang="en-IN" b="1" dirty="0"/>
              <a:t> stop </a:t>
            </a:r>
            <a:r>
              <a:rPr lang="en-IN" dirty="0"/>
              <a:t>the simulation and updates. </a:t>
            </a:r>
          </a:p>
          <a:p>
            <a:r>
              <a:rPr lang="en-IN" dirty="0"/>
              <a:t>• The health index trend provides an immediate interpretation of degradation, showing how the system deviates from the healthy baseline. </a:t>
            </a:r>
          </a:p>
          <a:p>
            <a:r>
              <a:rPr lang="en-IN" dirty="0"/>
              <a:t>• The severity plot visualizes the injected degradation profile, enabling direct correlation between fault growth and changes in the health index.</a:t>
            </a:r>
          </a:p>
          <a:p>
            <a:r>
              <a:rPr lang="en-IN" dirty="0"/>
              <a:t> • The RUL plot highlights how the estimate stabilizes or shifts as more data becomes available, reflecting the confidence of the prognostics pipeline. </a:t>
            </a:r>
          </a:p>
          <a:p>
            <a:r>
              <a:rPr lang="en-IN" dirty="0"/>
              <a:t>• A status panel reports the current RUL estimate and issues warnings when degradation accelerates or when the health index approaches the end-of-life threshold</a:t>
            </a:r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59CEC61-F44B-43B3-B40F-AE38C5AF1D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CD0DDF-CABF-4842-A6AC-6F65B97CFA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3582" y="6446838"/>
            <a:ext cx="78001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3A98EE3D-8CD1-4C3F-BD1C-C98C9596463C}" type="slidenum">
              <a:rPr lang="en-US" smtClean="0"/>
              <a:pPr>
                <a:spcAft>
                  <a:spcPts val="600"/>
                </a:spcAft>
              </a:pPr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09690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558DB37-9FEE-48A2-8578-ED04015739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F7FCCA6-00E2-4F74-A105-0D769872F2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0"/>
            <a:ext cx="12188952" cy="1905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13F5CE-0A89-A8C4-71E5-859A5D5BC8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anchor="ctr"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Discussion: Interpretation of Outputs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59CEC61-F44B-43B3-B40F-AE38C5AF1D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3D0835-B090-814C-3EFF-8D51E9381A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3582" y="6446838"/>
            <a:ext cx="78001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3A98EE3D-8CD1-4C3F-BD1C-C98C9596463C}" type="slidenum">
              <a:rPr lang="en-US" smtClean="0"/>
              <a:pPr>
                <a:spcAft>
                  <a:spcPts val="600"/>
                </a:spcAft>
              </a:pPr>
              <a:t>15</a:t>
            </a:fld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87A3EA0-7DCA-DB64-EEA6-B161E4CC8AF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47277914"/>
              </p:ext>
            </p:extLst>
          </p:nvPr>
        </p:nvGraphicFramePr>
        <p:xfrm>
          <a:off x="1212969" y="2504341"/>
          <a:ext cx="10058400" cy="31940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919452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3558DB37-9FEE-48A2-8578-ED04015739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F7FCCA6-00E2-4F74-A105-0D769872F2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0"/>
            <a:ext cx="12188952" cy="1905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153A80-B90A-6BFF-A4A8-C5455676BE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anchor="ctr"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Discussion: Sensitivity and Uncertainty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D5F29A-989A-360E-5095-AFB160C5BA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1382" y="2191603"/>
            <a:ext cx="10309202" cy="3684896"/>
          </a:xfrm>
        </p:spPr>
        <p:txBody>
          <a:bodyPr>
            <a:normAutofit fontScale="92500" lnSpcReduction="20000"/>
          </a:bodyPr>
          <a:lstStyle/>
          <a:p>
            <a:r>
              <a:rPr lang="en-IN" dirty="0"/>
              <a:t>• </a:t>
            </a:r>
            <a:r>
              <a:rPr lang="en-IN" b="1" dirty="0"/>
              <a:t>Degradation profile sensitivity</a:t>
            </a:r>
            <a:r>
              <a:rPr lang="en-IN" dirty="0"/>
              <a:t>: the RUL estimate is primarily driven by the injected severity trajectory; a change in fault growth rate directly changes the slope of the health index and the predicted end-of-life time. </a:t>
            </a:r>
          </a:p>
          <a:p>
            <a:r>
              <a:rPr lang="en-IN" dirty="0"/>
              <a:t>• </a:t>
            </a:r>
            <a:r>
              <a:rPr lang="en-IN" b="1" dirty="0"/>
              <a:t>Feature sensitivity</a:t>
            </a:r>
            <a:r>
              <a:rPr lang="en-IN" dirty="0"/>
              <a:t>: features with strong response to severity produce a cleaner, more monotonic health trend; weak or noisy features increase scatter and lead to unstable RUL updates. </a:t>
            </a:r>
          </a:p>
          <a:p>
            <a:r>
              <a:rPr lang="en-IN" dirty="0"/>
              <a:t>• </a:t>
            </a:r>
            <a:r>
              <a:rPr lang="en-IN" b="1" dirty="0"/>
              <a:t>Noise and variability</a:t>
            </a:r>
            <a:r>
              <a:rPr lang="en-IN" dirty="0"/>
              <a:t>: measurement noise increases short-term fluctuations in the health index, which propagates into RUL oscillations; smoothing improves stability but reduces responsiveness.</a:t>
            </a:r>
          </a:p>
          <a:p>
            <a:r>
              <a:rPr lang="en-IN" dirty="0"/>
              <a:t>• </a:t>
            </a:r>
            <a:r>
              <a:rPr lang="en-IN" b="1" dirty="0"/>
              <a:t>Windowing trade-off</a:t>
            </a:r>
            <a:r>
              <a:rPr lang="en-IN" dirty="0"/>
              <a:t>: shorter windows improve update rate, while longer windows improve robustness; the selected window length determines the balance between latency and confidence. </a:t>
            </a:r>
          </a:p>
          <a:p>
            <a:r>
              <a:rPr lang="en-IN" dirty="0"/>
              <a:t>• </a:t>
            </a:r>
            <a:r>
              <a:rPr lang="en-IN" b="1" dirty="0"/>
              <a:t>Confidence in predictions</a:t>
            </a:r>
            <a:r>
              <a:rPr lang="en-IN" dirty="0"/>
              <a:t>: prediction confidence increases when severity, health index, and RUL evolve consistently over time; abrupt changes indicate uncertainty or a regime change. </a:t>
            </a:r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59CEC61-F44B-43B3-B40F-AE38C5AF1D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DC1218-BA12-46CD-EADF-291B47ED43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3582" y="6446838"/>
            <a:ext cx="78001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3A98EE3D-8CD1-4C3F-BD1C-C98C9596463C}" type="slidenum">
              <a:rPr lang="en-US" smtClean="0"/>
              <a:pPr>
                <a:spcAft>
                  <a:spcPts val="600"/>
                </a:spcAft>
              </a:pPr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63097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558DB37-9FEE-48A2-8578-ED04015739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F7FCCA6-00E2-4F74-A105-0D769872F2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0"/>
            <a:ext cx="12188952" cy="1905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D821C7-F0BC-9D29-592E-4B5CB4E4EF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anchor="ctr"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Limitations and Deployment Considerations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DD2F4D-172B-27BE-39E3-AEF2A4017E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8939" y="2382103"/>
            <a:ext cx="10275082" cy="3541594"/>
          </a:xfrm>
        </p:spPr>
        <p:txBody>
          <a:bodyPr>
            <a:normAutofit lnSpcReduction="10000"/>
          </a:bodyPr>
          <a:lstStyle/>
          <a:p>
            <a:r>
              <a:rPr lang="en-IN" dirty="0"/>
              <a:t>• </a:t>
            </a:r>
            <a:r>
              <a:rPr lang="en-IN" b="1" dirty="0"/>
              <a:t>Model fidelity</a:t>
            </a:r>
            <a:r>
              <a:rPr lang="en-IN" dirty="0"/>
              <a:t>: the Simscape model is a simplified representation and may not capture all real effects such as nonlinear contact, detailed bearing dynamics, and structural flexibility. </a:t>
            </a:r>
          </a:p>
          <a:p>
            <a:r>
              <a:rPr lang="en-IN" dirty="0"/>
              <a:t>• </a:t>
            </a:r>
            <a:r>
              <a:rPr lang="en-IN" b="1" dirty="0"/>
              <a:t>Degradation modelling</a:t>
            </a:r>
            <a:r>
              <a:rPr lang="en-IN" dirty="0"/>
              <a:t>: degradation is introduced by controlled parameter changes; real machines may degrade through multiple mechanisms and not strictly monotonically. </a:t>
            </a:r>
          </a:p>
          <a:p>
            <a:r>
              <a:rPr lang="en-IN" dirty="0"/>
              <a:t>• </a:t>
            </a:r>
            <a:r>
              <a:rPr lang="en-IN" b="1" dirty="0"/>
              <a:t>Sim-to-real gap</a:t>
            </a:r>
            <a:r>
              <a:rPr lang="en-IN" dirty="0"/>
              <a:t>: field data contains sensor noise, mounting effects, temperature influence, and machine-to-machine variability that can shift extracted features. </a:t>
            </a:r>
          </a:p>
          <a:p>
            <a:r>
              <a:rPr lang="en-IN" dirty="0"/>
              <a:t>• </a:t>
            </a:r>
            <a:r>
              <a:rPr lang="en-IN" b="1" dirty="0"/>
              <a:t>Deployment needs</a:t>
            </a:r>
            <a:r>
              <a:rPr lang="en-IN" dirty="0"/>
              <a:t>: consistent sensor placement and calibration, reliable data logging, robust pre-processing, and periodic re-calibration of model parameters and thresholds using real data. </a:t>
            </a:r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59CEC61-F44B-43B3-B40F-AE38C5AF1D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0B3F94-1C44-260C-8DB1-C998223A73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3582" y="6446838"/>
            <a:ext cx="78001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3A98EE3D-8CD1-4C3F-BD1C-C98C9596463C}" type="slidenum">
              <a:rPr lang="en-US" smtClean="0"/>
              <a:pPr>
                <a:spcAft>
                  <a:spcPts val="600"/>
                </a:spcAft>
              </a:pPr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24849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558DB37-9FEE-48A2-8578-ED04015739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F7FCCA6-00E2-4F74-A105-0D769872F2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0"/>
            <a:ext cx="12188952" cy="1905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D6142E-05EE-F55C-A5F1-108815ED8A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anchor="ctr"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Conclusions &amp; Future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5DE47D-4320-8644-1444-7D202C517F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1518" y="2259273"/>
            <a:ext cx="10629924" cy="3787253"/>
          </a:xfrm>
        </p:spPr>
        <p:txBody>
          <a:bodyPr>
            <a:normAutofit fontScale="85000" lnSpcReduction="20000"/>
          </a:bodyPr>
          <a:lstStyle/>
          <a:p>
            <a:r>
              <a:rPr lang="en-IN" sz="1900" b="1" dirty="0"/>
              <a:t>Conclusions </a:t>
            </a:r>
          </a:p>
          <a:p>
            <a:r>
              <a:rPr lang="en-IN" dirty="0"/>
              <a:t>• A physics-based rotating-shaft digital twin was developed in MATLAB Simulink/Simscape and instrumented with virtual sensors. </a:t>
            </a:r>
          </a:p>
          <a:p>
            <a:r>
              <a:rPr lang="en-IN" dirty="0"/>
              <a:t>• Vibration-derived features were used to construct a health index that tracks degradation under progressive fault injection. </a:t>
            </a:r>
          </a:p>
          <a:p>
            <a:r>
              <a:rPr lang="en-IN" dirty="0"/>
              <a:t>• The health trend was converted into an online RUL estimate and visualized through an interactive monitoring dashboard. </a:t>
            </a:r>
          </a:p>
          <a:p>
            <a:r>
              <a:rPr lang="en-IN" sz="1900" b="1" dirty="0"/>
              <a:t>Future work </a:t>
            </a:r>
          </a:p>
          <a:p>
            <a:r>
              <a:rPr lang="en-IN" dirty="0"/>
              <a:t>• Integrate real-time data streaming and automate health/RUL updates for continuous monitoring. </a:t>
            </a:r>
          </a:p>
          <a:p>
            <a:r>
              <a:rPr lang="en-IN" dirty="0"/>
              <a:t>• Extend the framework to additional degradation mechanisms and validate RUL performance across multiple operating regimes.</a:t>
            </a:r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59CEC61-F44B-43B3-B40F-AE38C5AF1D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274EE2-2CAB-45EC-6EBA-D60B388FE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3582" y="6446838"/>
            <a:ext cx="78001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3A98EE3D-8CD1-4C3F-BD1C-C98C9596463C}" type="slidenum">
              <a:rPr lang="en-US" smtClean="0"/>
              <a:pPr>
                <a:spcAft>
                  <a:spcPts val="600"/>
                </a:spcAft>
              </a:pPr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05147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558DB37-9FEE-48A2-8578-ED04015739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F7FCCA6-00E2-4F74-A105-0D769872F2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0"/>
            <a:ext cx="12188952" cy="1905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765E4A4-8E14-F602-2D14-CA13A3868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anchor="ctr"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62A474-A837-F635-14D3-2D3EF84B85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2860" y="2191603"/>
            <a:ext cx="10452503" cy="4041557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[1] R. Raja Singh, Ghanishtha Bhatti, Dattatraya Kalel, Indragandhi Vairavasun-daram, and Faisal Alsaif. Building a digital twin powered intelligent predictivemaintenance system for industrial ac machines. Machines, 11(8):796, 2023. doi:10.3390/machines11080796.</a:t>
            </a:r>
          </a:p>
          <a:p>
            <a:r>
              <a:rPr lang="en-US" dirty="0"/>
              <a:t>[2] Dong Zhong, Zhelei Xia, Yian Zhu, and Junhua Duan. Overview of predictivemaintenance based on digital twin technology. Heliyon, 9:e14534, 2023. doi: 10.1016/j.heliyon.2023.e14534.</a:t>
            </a:r>
          </a:p>
          <a:p>
            <a:r>
              <a:rPr lang="en-US" dirty="0"/>
              <a:t>[3] Rui Zhao, Ruqiang Yan, Zhenghua Chen, Kezhi Mao, Peng Wang, and Robert X.Gao. Deep learning and its applications to machine health monitoring. Mechanical Systems and Signal Processing, 115:213–237, 2019. doi: 10.1016/j.ymssp.2018.05.050</a:t>
            </a:r>
          </a:p>
          <a:p>
            <a:r>
              <a:rPr lang="en-US" dirty="0"/>
              <a:t>[4] Fei Tao, Haoyang Zhang, Ang Liu, and Andrew Y. C. Nee. Digital twin in indus-try: State-of-the-art. IEEE Transactions on Industrial Informatics, 15(4):2405–2415,2019. doi: 10.1109/TII.2018.2873186.</a:t>
            </a:r>
          </a:p>
          <a:p>
            <a:r>
              <a:rPr lang="en-US" dirty="0"/>
              <a:t>[5] Werner Kritzinger, Matthias Karner, Georg Traar, Jan Henjes, and Wilfried Sihn.Digital twin in manufacturing: A categorization and literature review. ProcediaCIRP, 72:34–39, 2018. doi: 10.1016/j.procir.2018.03.055</a:t>
            </a:r>
          </a:p>
          <a:p>
            <a:r>
              <a:rPr lang="en-US" dirty="0"/>
              <a:t>[6] </a:t>
            </a:r>
            <a:r>
              <a:rPr lang="en-IN" dirty="0"/>
              <a:t>Michael Grieves. Digital twin: Manufacturing excellence through virtual factoryreplication. White Paper, Florida Institute of Technology, 2014.</a:t>
            </a:r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59CEC61-F44B-43B3-B40F-AE38C5AF1D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4B9AB7-BAB4-9332-F4D3-EF337FF1BC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3582" y="6446838"/>
            <a:ext cx="78001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3A98EE3D-8CD1-4C3F-BD1C-C98C9596463C}" type="slidenum">
              <a:rPr lang="en-US" smtClean="0"/>
              <a:pPr>
                <a:spcAft>
                  <a:spcPts val="600"/>
                </a:spcAft>
              </a:pPr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82037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35371D-A9C7-FED2-066B-1928B9121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20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F4A41A9-E51B-DC25-1373-E8F5E1012549}"/>
              </a:ext>
            </a:extLst>
          </p:cNvPr>
          <p:cNvSpPr txBox="1"/>
          <p:nvPr/>
        </p:nvSpPr>
        <p:spPr>
          <a:xfrm>
            <a:off x="2254155" y="2644170"/>
            <a:ext cx="768368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826651516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VTI">
  <a:themeElements>
    <a:clrScheme name="Retrospect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Univers Condensed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Univers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VTI" id="{ABE3C30C-0FC0-4450-828E-52DE70F1BCCB}" vid="{A6E2497D-935A-4CFD-B9FD-6DCB15FA68B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1699</Words>
  <Application>Microsoft Office PowerPoint</Application>
  <PresentationFormat>Widescreen</PresentationFormat>
  <Paragraphs>120</Paragraphs>
  <Slides>20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Aptos</vt:lpstr>
      <vt:lpstr>Calibri</vt:lpstr>
      <vt:lpstr>Univers</vt:lpstr>
      <vt:lpstr>Univers Condensed</vt:lpstr>
      <vt:lpstr>RetrospectVTI</vt:lpstr>
      <vt:lpstr>Digital Twin of a Rotating Shaft for Predictive Maintenance using MATLAB Simulink and Simscape</vt:lpstr>
      <vt:lpstr>Outline </vt:lpstr>
      <vt:lpstr>Industrial Problem &amp; Motivation</vt:lpstr>
      <vt:lpstr>Objectives &amp; Scope</vt:lpstr>
      <vt:lpstr>System Architecture</vt:lpstr>
      <vt:lpstr>PowerPoint Presentation</vt:lpstr>
      <vt:lpstr>Modelling Flow: Digital Twin and Data Generation </vt:lpstr>
      <vt:lpstr>Modelling Flow: Feature Pipeline and RUL Prediction </vt:lpstr>
      <vt:lpstr>Simulation Setup</vt:lpstr>
      <vt:lpstr>Feature Extraction for Prognostics</vt:lpstr>
      <vt:lpstr>Health Indicator and Degradation Trend</vt:lpstr>
      <vt:lpstr>RUL Prediction Results</vt:lpstr>
      <vt:lpstr>Monitoring Dashboard for Prognostics</vt:lpstr>
      <vt:lpstr>Monitoring Dashboard for Prognostics </vt:lpstr>
      <vt:lpstr>Discussion: Interpretation of Outputs</vt:lpstr>
      <vt:lpstr>Discussion: Sensitivity and Uncertainty</vt:lpstr>
      <vt:lpstr>Limitations and Deployment Considerations </vt:lpstr>
      <vt:lpstr>Conclusions &amp; Future Work</vt:lpstr>
      <vt:lpstr>References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Karthik Gopi</dc:creator>
  <cp:lastModifiedBy>Karthik Gopi</cp:lastModifiedBy>
  <cp:revision>10</cp:revision>
  <dcterms:created xsi:type="dcterms:W3CDTF">2025-11-05T13:35:47Z</dcterms:created>
  <dcterms:modified xsi:type="dcterms:W3CDTF">2026-01-14T20:46:58Z</dcterms:modified>
</cp:coreProperties>
</file>